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GE Dinar One Medium" panose="020B0604020202020204" charset="-78"/>
      <p:regular r:id="rId15"/>
    </p:embeddedFont>
    <p:embeddedFont>
      <p:font typeface="Calibri" panose="020F0502020204030204" pitchFamily="34" charset="0"/>
      <p:regular r:id="rId16"/>
      <p:bold r:id="rId17"/>
    </p:embeddedFont>
    <p:embeddedFont>
      <p:font typeface="Canva Sans" panose="020B0604020202020204" charset="0"/>
      <p:regular r:id="rId18"/>
    </p:embeddedFont>
    <p:embeddedFont>
      <p:font typeface="Canva Sans Bold" panose="020B0604020202020204" charset="0"/>
      <p:regular r:id="rId19"/>
    </p:embeddedFont>
    <p:embeddedFont>
      <p:font typeface="GE Dinar One Light" panose="020B0604020202020204" charset="-78"/>
      <p:regular r:id="rId20"/>
    </p:embeddedFont>
    <p:embeddedFont>
      <p:font typeface="Arimo Bold" panose="020B0604020202020204" charset="0"/>
      <p:regular r:id="rId21"/>
    </p:embeddedFont>
    <p:embeddedFont>
      <p:font typeface="Arimo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49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511266" y="548572"/>
            <a:ext cx="1910602" cy="1919968"/>
          </a:xfrm>
          <a:custGeom>
            <a:avLst/>
            <a:gdLst/>
            <a:ahLst/>
            <a:cxnLst/>
            <a:rect l="l" t="t" r="r" b="b"/>
            <a:pathLst>
              <a:path w="1910602" h="1919968">
                <a:moveTo>
                  <a:pt x="0" y="0"/>
                </a:moveTo>
                <a:lnTo>
                  <a:pt x="1910602" y="0"/>
                </a:lnTo>
                <a:lnTo>
                  <a:pt x="1910602" y="1919967"/>
                </a:lnTo>
                <a:lnTo>
                  <a:pt x="0" y="1919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21433" y="2312679"/>
            <a:ext cx="14645134" cy="1139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5"/>
              </a:lnSpc>
            </a:pPr>
            <a:r>
              <a:rPr lang="en-US" sz="652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Cybersecurity Fundamentals Project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09603" y="3651889"/>
            <a:ext cx="14645134" cy="1139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35"/>
              </a:lnSpc>
              <a:spcBef>
                <a:spcPct val="0"/>
              </a:spcBef>
            </a:pPr>
            <a:r>
              <a:rPr lang="en-US" sz="652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( </a:t>
            </a:r>
            <a:r>
              <a:rPr lang="en-US" sz="6525" b="1" strike="noStrik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Dos and DDos Attacks 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41248" y="5421569"/>
            <a:ext cx="8605503" cy="115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686"/>
              </a:lnSpc>
            </a:pPr>
            <a:r>
              <a:rPr lang="ar-EG" sz="3347" smtClean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rtl/>
              </a:rPr>
              <a:t>|</a:t>
            </a:r>
            <a:endParaRPr lang="ar-EG" sz="3347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  <a:rtl/>
            </a:endParaRPr>
          </a:p>
          <a:p>
            <a:pPr algn="ctr">
              <a:lnSpc>
                <a:spcPts val="4686"/>
              </a:lnSpc>
            </a:pPr>
            <a:endParaRPr lang="ar-EG" sz="3347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  <a:rtl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165846" y="8090743"/>
            <a:ext cx="5671840" cy="1151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lang="en-US" sz="9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</a:t>
            </a:r>
          </a:p>
          <a:p>
            <a:pPr algn="ctr">
              <a:lnSpc>
                <a:spcPts val="4028"/>
              </a:lnSpc>
            </a:pPr>
            <a:r>
              <a:rPr lang="en-US" sz="2877" b="1">
                <a:solidFill>
                  <a:srgbClr val="000000"/>
                </a:solidFill>
                <a:latin typeface="GE Dinar One Medium"/>
                <a:ea typeface="GE Dinar One Medium"/>
                <a:cs typeface="GE Dinar One Medium"/>
                <a:sym typeface="GE Dinar One Medium"/>
              </a:rPr>
              <a:t> Instructor: Prof. Fatemah Alharbi</a:t>
            </a:r>
          </a:p>
          <a:p>
            <a:pPr algn="ctr">
              <a:lnSpc>
                <a:spcPts val="4028"/>
              </a:lnSpc>
            </a:pPr>
            <a:endParaRPr lang="en-US" sz="2877" b="1">
              <a:solidFill>
                <a:srgbClr val="000000"/>
              </a:solidFill>
              <a:latin typeface="GE Dinar One Medium"/>
              <a:ea typeface="GE Dinar One Medium"/>
              <a:cs typeface="GE Dinar One Medium"/>
              <a:sym typeface="GE Dinar One Medium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7421868" y="9210675"/>
            <a:ext cx="172749" cy="436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25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39238" y="4736782"/>
            <a:ext cx="9525" cy="680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4852268" y="4736782"/>
            <a:ext cx="9525" cy="680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248298" y="2392536"/>
            <a:ext cx="10892253" cy="7324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90"/>
              </a:lnSpc>
            </a:pPr>
            <a:r>
              <a:rPr lang="en-US" sz="413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• </a:t>
            </a:r>
            <a:r>
              <a:rPr lang="en-US" sz="4136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Denial of Service (DoS):</a:t>
            </a:r>
          </a:p>
          <a:p>
            <a:pPr algn="l">
              <a:lnSpc>
                <a:spcPts val="5790"/>
              </a:lnSpc>
            </a:pPr>
            <a:r>
              <a:rPr lang="en-US" sz="413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These attacks aim to prevent legitimate users from accessing a specific resource by overwhelming it.</a:t>
            </a:r>
          </a:p>
          <a:p>
            <a:pPr algn="l">
              <a:lnSpc>
                <a:spcPts val="5790"/>
              </a:lnSpc>
            </a:pPr>
            <a:endParaRPr lang="en-US" sz="4136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5790"/>
              </a:lnSpc>
            </a:pPr>
            <a:r>
              <a:rPr lang="en-US" sz="413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• </a:t>
            </a:r>
            <a:r>
              <a:rPr lang="en-US" sz="4136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Distributed Denial of Service (DDoS):</a:t>
            </a:r>
          </a:p>
          <a:p>
            <a:pPr algn="l">
              <a:lnSpc>
                <a:spcPts val="5790"/>
              </a:lnSpc>
            </a:pPr>
            <a:r>
              <a:rPr lang="en-US" sz="413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large-scale attack using compromised devices (botnets) to generate massive traffic, disrupting services.</a:t>
            </a:r>
          </a:p>
          <a:p>
            <a:pPr algn="l">
              <a:lnSpc>
                <a:spcPts val="5790"/>
              </a:lnSpc>
              <a:spcBef>
                <a:spcPct val="0"/>
              </a:spcBef>
            </a:pPr>
            <a:endParaRPr lang="en-US" sz="4136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0143007" y="3818794"/>
            <a:ext cx="7789306" cy="3995349"/>
          </a:xfrm>
          <a:custGeom>
            <a:avLst/>
            <a:gdLst/>
            <a:ahLst/>
            <a:cxnLst/>
            <a:rect l="l" t="t" r="r" b="b"/>
            <a:pathLst>
              <a:path w="7789306" h="3995349">
                <a:moveTo>
                  <a:pt x="0" y="0"/>
                </a:moveTo>
                <a:lnTo>
                  <a:pt x="7789306" y="0"/>
                </a:lnTo>
                <a:lnTo>
                  <a:pt x="7789306" y="3995349"/>
                </a:lnTo>
                <a:lnTo>
                  <a:pt x="0" y="39953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48298" y="933450"/>
            <a:ext cx="13476153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Definitions of DoS and DDoS Attacks :</a:t>
            </a:r>
          </a:p>
          <a:p>
            <a:pPr algn="ctr">
              <a:lnSpc>
                <a:spcPts val="7279"/>
              </a:lnSpc>
            </a:pPr>
            <a:endParaRPr lang="en-US" sz="5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7444217" y="9210675"/>
            <a:ext cx="178161" cy="436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25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20610" y="1385446"/>
            <a:ext cx="12801388" cy="7872854"/>
          </a:xfrm>
          <a:custGeom>
            <a:avLst/>
            <a:gdLst/>
            <a:ahLst/>
            <a:cxnLst/>
            <a:rect l="l" t="t" r="r" b="b"/>
            <a:pathLst>
              <a:path w="12801388" h="7872854">
                <a:moveTo>
                  <a:pt x="0" y="0"/>
                </a:moveTo>
                <a:lnTo>
                  <a:pt x="12801388" y="0"/>
                </a:lnTo>
                <a:lnTo>
                  <a:pt x="12801388" y="7872854"/>
                </a:lnTo>
                <a:lnTo>
                  <a:pt x="0" y="7872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647631" y="933450"/>
            <a:ext cx="16007912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Difference Between DoS and DDoS Attacks:</a:t>
            </a:r>
          </a:p>
          <a:p>
            <a:pPr algn="ctr">
              <a:lnSpc>
                <a:spcPts val="7279"/>
              </a:lnSpc>
            </a:pPr>
            <a:endParaRPr lang="en-US" sz="5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549696" y="9210675"/>
            <a:ext cx="188254" cy="436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25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4874904" y="933450"/>
            <a:ext cx="16007912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Attack targets:</a:t>
            </a:r>
          </a:p>
          <a:p>
            <a:pPr algn="ctr">
              <a:lnSpc>
                <a:spcPts val="7279"/>
              </a:lnSpc>
            </a:pPr>
            <a:endParaRPr lang="en-US" sz="5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578793" y="2577188"/>
            <a:ext cx="3771522" cy="948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Application resources:</a:t>
            </a:r>
          </a:p>
          <a:p>
            <a:pPr algn="ctr">
              <a:lnSpc>
                <a:spcPts val="3780"/>
              </a:lnSpc>
            </a:pPr>
            <a:endParaRPr lang="en-US" sz="2700" b="1">
              <a:solidFill>
                <a:srgbClr val="FF3131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713021" y="2577188"/>
            <a:ext cx="3068452" cy="948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resources:</a:t>
            </a:r>
          </a:p>
          <a:p>
            <a:pPr algn="ctr">
              <a:lnSpc>
                <a:spcPts val="3780"/>
              </a:lnSpc>
            </a:pPr>
            <a:endParaRPr lang="en-US" sz="2700" b="1">
              <a:solidFill>
                <a:srgbClr val="FF3131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109615" y="2577188"/>
            <a:ext cx="3407314" cy="948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Network bandwidth:</a:t>
            </a:r>
          </a:p>
          <a:p>
            <a:pPr algn="ctr">
              <a:lnSpc>
                <a:spcPts val="3780"/>
              </a:lnSpc>
            </a:pPr>
            <a:endParaRPr lang="en-US" sz="2700" b="1">
              <a:solidFill>
                <a:srgbClr val="FF3131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22585" y="3293681"/>
            <a:ext cx="5283939" cy="1562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7"/>
              </a:lnSpc>
            </a:pPr>
            <a:r>
              <a:rPr lang="en-US" sz="298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target the application itself (e.g., databases).</a:t>
            </a:r>
          </a:p>
          <a:p>
            <a:pPr algn="l">
              <a:lnSpc>
                <a:spcPts val="4177"/>
              </a:lnSpc>
              <a:spcBef>
                <a:spcPct val="0"/>
              </a:spcBef>
            </a:pPr>
            <a:endParaRPr lang="en-US" sz="2983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00853" y="4779532"/>
            <a:ext cx="5283939" cy="5229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7"/>
              </a:lnSpc>
            </a:pPr>
            <a:r>
              <a:rPr lang="en-US" sz="298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Overwhelming the application (e.g., web server) with complex requests, consuming CPU and memory.</a:t>
            </a:r>
          </a:p>
          <a:p>
            <a:pPr algn="ctr">
              <a:lnSpc>
                <a:spcPts val="4177"/>
              </a:lnSpc>
            </a:pPr>
            <a:endParaRPr lang="en-US" sz="2983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4177"/>
              </a:lnSpc>
            </a:pPr>
            <a:r>
              <a:rPr lang="en-US" sz="2983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Example: </a:t>
            </a:r>
            <a:r>
              <a:rPr lang="en-US" sz="298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HTTP Flood attack, where numerous requests overload the server's resources.</a:t>
            </a:r>
          </a:p>
          <a:p>
            <a:pPr algn="l">
              <a:lnSpc>
                <a:spcPts val="4177"/>
              </a:lnSpc>
              <a:spcBef>
                <a:spcPct val="0"/>
              </a:spcBef>
            </a:pPr>
            <a:endParaRPr lang="en-US" sz="2983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605278" y="3215257"/>
            <a:ext cx="5283939" cy="1562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7"/>
              </a:lnSpc>
            </a:pPr>
            <a:r>
              <a:rPr lang="en-US" sz="298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target the overall server capabilities (CPU, RAM).</a:t>
            </a:r>
          </a:p>
          <a:p>
            <a:pPr algn="l">
              <a:lnSpc>
                <a:spcPts val="4177"/>
              </a:lnSpc>
              <a:spcBef>
                <a:spcPct val="0"/>
              </a:spcBef>
            </a:pPr>
            <a:endParaRPr lang="en-US" sz="2983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655987" y="4789520"/>
            <a:ext cx="5180758" cy="5229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7"/>
              </a:lnSpc>
            </a:pPr>
            <a:r>
              <a:rPr lang="en-US" sz="298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Overloading the server's overall resources (CPU, RAM) to cause crashes or slowdowns.</a:t>
            </a:r>
          </a:p>
          <a:p>
            <a:pPr algn="ctr">
              <a:lnSpc>
                <a:spcPts val="4177"/>
              </a:lnSpc>
            </a:pPr>
            <a:endParaRPr lang="en-US" sz="2983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4177"/>
              </a:lnSpc>
            </a:pPr>
            <a:r>
              <a:rPr lang="en-US" sz="2983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Example:</a:t>
            </a:r>
            <a:r>
              <a:rPr lang="en-US" sz="298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 flood of requests that exhausts CPU and memory, causing the server to become unresponsive.</a:t>
            </a:r>
          </a:p>
          <a:p>
            <a:pPr algn="l">
              <a:lnSpc>
                <a:spcPts val="4177"/>
              </a:lnSpc>
              <a:spcBef>
                <a:spcPct val="0"/>
              </a:spcBef>
            </a:pPr>
            <a:endParaRPr lang="en-US" sz="2983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154154" y="3013110"/>
            <a:ext cx="5775086" cy="1901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94"/>
              </a:lnSpc>
            </a:pPr>
            <a:r>
              <a:rPr lang="en-US" sz="271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targets the network connection to cause congestion and disrupt data flow.</a:t>
            </a:r>
          </a:p>
          <a:p>
            <a:pPr algn="l">
              <a:lnSpc>
                <a:spcPts val="3794"/>
              </a:lnSpc>
              <a:spcBef>
                <a:spcPct val="0"/>
              </a:spcBef>
            </a:pPr>
            <a:endParaRPr lang="en-US" sz="271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369089" y="4779532"/>
            <a:ext cx="5283939" cy="5229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7"/>
              </a:lnSpc>
            </a:pPr>
            <a:r>
              <a:rPr lang="en-US" sz="298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Flooding the network with excessive traffic, consuming all bandwidth and causing congestion.</a:t>
            </a:r>
          </a:p>
          <a:p>
            <a:pPr algn="ctr">
              <a:lnSpc>
                <a:spcPts val="4177"/>
              </a:lnSpc>
            </a:pPr>
            <a:endParaRPr lang="en-US" sz="2983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4177"/>
              </a:lnSpc>
            </a:pPr>
            <a:r>
              <a:rPr lang="en-US" sz="2983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Example: </a:t>
            </a:r>
            <a:r>
              <a:rPr lang="en-US" sz="298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UDP Flood or SYN Flood, where massive amounts of data overwhelm the network, preventing legitimate access.</a:t>
            </a:r>
          </a:p>
          <a:p>
            <a:pPr algn="l">
              <a:lnSpc>
                <a:spcPts val="4177"/>
              </a:lnSpc>
              <a:spcBef>
                <a:spcPct val="0"/>
              </a:spcBef>
            </a:pPr>
            <a:endParaRPr lang="en-US" sz="2983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445500" y="4438029"/>
            <a:ext cx="5" cy="33974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" name="AutoShape 13"/>
          <p:cNvSpPr/>
          <p:nvPr/>
        </p:nvSpPr>
        <p:spPr>
          <a:xfrm>
            <a:off x="9372239" y="4438029"/>
            <a:ext cx="5" cy="33974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4" name="AutoShape 14"/>
          <p:cNvSpPr/>
          <p:nvPr/>
        </p:nvSpPr>
        <p:spPr>
          <a:xfrm>
            <a:off x="14992003" y="4438029"/>
            <a:ext cx="5" cy="33974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5" name="AutoShape 15"/>
          <p:cNvSpPr/>
          <p:nvPr/>
        </p:nvSpPr>
        <p:spPr>
          <a:xfrm flipV="1">
            <a:off x="6414778" y="2744470"/>
            <a:ext cx="0" cy="72647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flipV="1">
            <a:off x="12174967" y="2754459"/>
            <a:ext cx="0" cy="72647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17732868" y="9572419"/>
            <a:ext cx="196372" cy="436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25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257271"/>
            <a:ext cx="6960814" cy="2286989"/>
          </a:xfrm>
          <a:custGeom>
            <a:avLst/>
            <a:gdLst/>
            <a:ahLst/>
            <a:cxnLst/>
            <a:rect l="l" t="t" r="r" b="b"/>
            <a:pathLst>
              <a:path w="6960814" h="2286989">
                <a:moveTo>
                  <a:pt x="0" y="0"/>
                </a:moveTo>
                <a:lnTo>
                  <a:pt x="6960814" y="0"/>
                </a:lnTo>
                <a:lnTo>
                  <a:pt x="6960814" y="2286989"/>
                </a:lnTo>
                <a:lnTo>
                  <a:pt x="0" y="228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b="-20436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02740" y="703301"/>
            <a:ext cx="13476153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Detection and Mitigation Methods :</a:t>
            </a:r>
          </a:p>
          <a:p>
            <a:pPr algn="ctr">
              <a:lnSpc>
                <a:spcPts val="7279"/>
              </a:lnSpc>
            </a:pPr>
            <a:endParaRPr lang="en-US" sz="5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2476072" y="6286994"/>
            <a:ext cx="6960814" cy="2286989"/>
          </a:xfrm>
          <a:custGeom>
            <a:avLst/>
            <a:gdLst/>
            <a:ahLst/>
            <a:cxnLst/>
            <a:rect l="l" t="t" r="r" b="b"/>
            <a:pathLst>
              <a:path w="6960814" h="2286989">
                <a:moveTo>
                  <a:pt x="0" y="0"/>
                </a:moveTo>
                <a:lnTo>
                  <a:pt x="6960814" y="0"/>
                </a:lnTo>
                <a:lnTo>
                  <a:pt x="6960814" y="2286989"/>
                </a:lnTo>
                <a:lnTo>
                  <a:pt x="0" y="228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b="-204365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44000" y="3257271"/>
            <a:ext cx="6960814" cy="2286989"/>
          </a:xfrm>
          <a:custGeom>
            <a:avLst/>
            <a:gdLst/>
            <a:ahLst/>
            <a:cxnLst/>
            <a:rect l="l" t="t" r="r" b="b"/>
            <a:pathLst>
              <a:path w="6960814" h="2286989">
                <a:moveTo>
                  <a:pt x="0" y="0"/>
                </a:moveTo>
                <a:lnTo>
                  <a:pt x="6960814" y="0"/>
                </a:lnTo>
                <a:lnTo>
                  <a:pt x="6960814" y="2286989"/>
                </a:lnTo>
                <a:lnTo>
                  <a:pt x="0" y="228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b="-20436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98486" y="6286994"/>
            <a:ext cx="6960814" cy="2286989"/>
          </a:xfrm>
          <a:custGeom>
            <a:avLst/>
            <a:gdLst/>
            <a:ahLst/>
            <a:cxnLst/>
            <a:rect l="l" t="t" r="r" b="b"/>
            <a:pathLst>
              <a:path w="6960814" h="2286989">
                <a:moveTo>
                  <a:pt x="0" y="0"/>
                </a:moveTo>
                <a:lnTo>
                  <a:pt x="6960814" y="0"/>
                </a:lnTo>
                <a:lnTo>
                  <a:pt x="6960814" y="2286989"/>
                </a:lnTo>
                <a:lnTo>
                  <a:pt x="0" y="228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b="-204365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59992" y="3322919"/>
            <a:ext cx="3698230" cy="1184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9"/>
              </a:lnSpc>
            </a:pPr>
            <a:r>
              <a:rPr lang="en-US" sz="3242" b="1" u="sng">
                <a:solidFill>
                  <a:srgbClr val="FF3131"/>
                </a:solidFill>
                <a:latin typeface="GE Dinar One Medium"/>
                <a:ea typeface="GE Dinar One Medium"/>
                <a:cs typeface="GE Dinar One Medium"/>
                <a:sym typeface="GE Dinar One Medium"/>
              </a:rPr>
              <a:t> Statistical Analysis:</a:t>
            </a:r>
          </a:p>
          <a:p>
            <a:pPr algn="ctr">
              <a:lnSpc>
                <a:spcPts val="4539"/>
              </a:lnSpc>
            </a:pPr>
            <a:endParaRPr lang="en-US" sz="3242" b="1" u="sng">
              <a:solidFill>
                <a:srgbClr val="FF3131"/>
              </a:solidFill>
              <a:latin typeface="GE Dinar One Medium"/>
              <a:ea typeface="GE Dinar One Medium"/>
              <a:cs typeface="GE Dinar One Medium"/>
              <a:sym typeface="GE Dinar One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40294" y="4017758"/>
            <a:ext cx="5537625" cy="1526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8"/>
              </a:lnSpc>
            </a:pPr>
            <a:r>
              <a:rPr lang="en-US" sz="291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Monitors traffic for abnormal patterns.</a:t>
            </a:r>
          </a:p>
          <a:p>
            <a:pPr algn="ctr">
              <a:lnSpc>
                <a:spcPts val="4078"/>
              </a:lnSpc>
            </a:pPr>
            <a:endParaRPr lang="en-US" sz="2913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731810" y="3322919"/>
            <a:ext cx="1785193" cy="1184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9"/>
              </a:lnSpc>
            </a:pPr>
            <a:r>
              <a:rPr lang="en-US" sz="3242" b="1" u="sng">
                <a:solidFill>
                  <a:srgbClr val="FF3131"/>
                </a:solidFill>
                <a:latin typeface="GE Dinar One Medium"/>
                <a:ea typeface="GE Dinar One Medium"/>
                <a:cs typeface="GE Dinar One Medium"/>
                <a:sym typeface="GE Dinar One Medium"/>
              </a:rPr>
              <a:t>  AI Tools:</a:t>
            </a:r>
          </a:p>
          <a:p>
            <a:pPr algn="ctr">
              <a:lnSpc>
                <a:spcPts val="4539"/>
              </a:lnSpc>
            </a:pPr>
            <a:endParaRPr lang="en-US" sz="3242" b="1" u="sng">
              <a:solidFill>
                <a:srgbClr val="FF3131"/>
              </a:solidFill>
              <a:latin typeface="GE Dinar One Medium"/>
              <a:ea typeface="GE Dinar One Medium"/>
              <a:cs typeface="GE Dinar One Medium"/>
              <a:sym typeface="GE Dinar One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683951" y="4017758"/>
            <a:ext cx="5880911" cy="1526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8"/>
              </a:lnSpc>
            </a:pPr>
            <a:r>
              <a:rPr lang="en-US" sz="291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Uses machine learning to detect attacks.</a:t>
            </a:r>
          </a:p>
          <a:p>
            <a:pPr algn="ctr">
              <a:lnSpc>
                <a:spcPts val="4078"/>
              </a:lnSpc>
            </a:pPr>
            <a:endParaRPr lang="en-US" sz="2913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226748" y="6353885"/>
            <a:ext cx="5459462" cy="1184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9"/>
              </a:lnSpc>
            </a:pPr>
            <a:r>
              <a:rPr lang="en-US" sz="3242" b="1" u="sng">
                <a:solidFill>
                  <a:srgbClr val="FF3131"/>
                </a:solidFill>
                <a:latin typeface="GE Dinar One Medium"/>
                <a:ea typeface="GE Dinar One Medium"/>
                <a:cs typeface="GE Dinar One Medium"/>
                <a:sym typeface="GE Dinar One Medium"/>
              </a:rPr>
              <a:t>Knowledge-Based Methods:</a:t>
            </a:r>
          </a:p>
          <a:p>
            <a:pPr algn="ctr">
              <a:lnSpc>
                <a:spcPts val="4539"/>
              </a:lnSpc>
            </a:pPr>
            <a:endParaRPr lang="en-US" sz="3242" b="1" u="sng">
              <a:solidFill>
                <a:srgbClr val="FF3131"/>
              </a:solidFill>
              <a:latin typeface="GE Dinar One Medium"/>
              <a:ea typeface="GE Dinar One Medium"/>
              <a:cs typeface="GE Dinar One Medium"/>
              <a:sym typeface="GE Dinar One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768958" y="7047482"/>
            <a:ext cx="6375042" cy="1526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8"/>
              </a:lnSpc>
            </a:pPr>
            <a:r>
              <a:rPr lang="en-US" sz="291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Matches traffic against known attack behaviors.</a:t>
            </a:r>
          </a:p>
          <a:p>
            <a:pPr algn="ctr">
              <a:lnSpc>
                <a:spcPts val="4078"/>
              </a:lnSpc>
            </a:pPr>
            <a:endParaRPr lang="en-US" sz="2913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540048" y="6353885"/>
            <a:ext cx="2477691" cy="1184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9"/>
              </a:lnSpc>
            </a:pPr>
            <a:r>
              <a:rPr lang="en-US" sz="3242" b="1" u="sng">
                <a:solidFill>
                  <a:srgbClr val="FF3131"/>
                </a:solidFill>
                <a:latin typeface="GE Dinar One Medium"/>
                <a:ea typeface="GE Dinar One Medium"/>
                <a:cs typeface="GE Dinar One Medium"/>
                <a:sym typeface="GE Dinar One Medium"/>
              </a:rPr>
              <a:t>Data Mining:</a:t>
            </a:r>
          </a:p>
          <a:p>
            <a:pPr algn="ctr">
              <a:lnSpc>
                <a:spcPts val="4539"/>
              </a:lnSpc>
            </a:pPr>
            <a:endParaRPr lang="en-US" sz="3242" b="1" u="sng">
              <a:solidFill>
                <a:srgbClr val="FF3131"/>
              </a:solidFill>
              <a:latin typeface="GE Dinar One Medium"/>
              <a:ea typeface="GE Dinar One Medium"/>
              <a:cs typeface="GE Dinar One Medium"/>
              <a:sym typeface="GE Dinar One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010080" y="7047482"/>
            <a:ext cx="5537625" cy="1526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8"/>
              </a:lnSpc>
            </a:pPr>
            <a:r>
              <a:rPr lang="en-US" sz="291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Groups and analyzes traffic to identify suspicious activity.</a:t>
            </a:r>
          </a:p>
          <a:p>
            <a:pPr algn="ctr">
              <a:lnSpc>
                <a:spcPts val="4078"/>
              </a:lnSpc>
            </a:pPr>
            <a:endParaRPr lang="en-US" sz="2913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483351" y="9210675"/>
            <a:ext cx="191765" cy="436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25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7398" y="703516"/>
            <a:ext cx="13476153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Countermeasures: Defense Strategies</a:t>
            </a:r>
          </a:p>
          <a:p>
            <a:pPr algn="ctr">
              <a:lnSpc>
                <a:spcPts val="7279"/>
              </a:lnSpc>
            </a:pPr>
            <a:endParaRPr lang="en-US" sz="5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76068" y="1944387"/>
            <a:ext cx="14936883" cy="834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96"/>
              </a:lnSpc>
            </a:pP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1. </a:t>
            </a:r>
            <a:r>
              <a:rPr lang="en-US" sz="4155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Source-End Defense:</a:t>
            </a:r>
          </a:p>
          <a:p>
            <a:pPr algn="l">
              <a:lnSpc>
                <a:spcPts val="7396"/>
              </a:lnSpc>
            </a:pP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Mitigates attack traffic close to its source.</a:t>
            </a:r>
          </a:p>
          <a:p>
            <a:pPr algn="l">
              <a:lnSpc>
                <a:spcPts val="7396"/>
              </a:lnSpc>
            </a:pP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2. </a:t>
            </a:r>
            <a:r>
              <a:rPr lang="en-US" sz="4155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Victim-End Defense:</a:t>
            </a:r>
          </a:p>
          <a:p>
            <a:pPr algn="l">
              <a:lnSpc>
                <a:spcPts val="7396"/>
              </a:lnSpc>
            </a:pP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Protects the targeted system or service.</a:t>
            </a:r>
          </a:p>
          <a:p>
            <a:pPr algn="l">
              <a:lnSpc>
                <a:spcPts val="7396"/>
              </a:lnSpc>
            </a:pP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3. </a:t>
            </a:r>
            <a:r>
              <a:rPr lang="en-US" sz="4155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Core-End Defense:</a:t>
            </a:r>
          </a:p>
          <a:p>
            <a:pPr algn="l">
              <a:lnSpc>
                <a:spcPts val="7396"/>
              </a:lnSpc>
            </a:pP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Filters attack traffic at intermediate routers.</a:t>
            </a:r>
          </a:p>
          <a:p>
            <a:pPr algn="l">
              <a:lnSpc>
                <a:spcPts val="7396"/>
              </a:lnSpc>
            </a:pP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4.</a:t>
            </a:r>
            <a:r>
              <a:rPr lang="en-US" sz="4155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 Hybrid Defense:</a:t>
            </a:r>
          </a:p>
          <a:p>
            <a:pPr algn="l">
              <a:lnSpc>
                <a:spcPts val="7396"/>
              </a:lnSpc>
            </a:pP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Combines all above approaches for maximum protection.</a:t>
            </a:r>
          </a:p>
          <a:p>
            <a:pPr algn="l">
              <a:lnSpc>
                <a:spcPts val="7396"/>
              </a:lnSpc>
            </a:pPr>
            <a:endParaRPr lang="en-US" sz="4155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378801" y="9210675"/>
            <a:ext cx="208732" cy="436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25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421391" y="513403"/>
            <a:ext cx="13476153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Traceback Mechanisms :</a:t>
            </a:r>
          </a:p>
          <a:p>
            <a:pPr algn="ctr">
              <a:lnSpc>
                <a:spcPts val="7279"/>
              </a:lnSpc>
            </a:pPr>
            <a:endParaRPr lang="en-US" sz="5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6065" y="1824857"/>
            <a:ext cx="11576504" cy="7948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2"/>
              </a:lnSpc>
            </a:pPr>
            <a:r>
              <a:rPr lang="en-US" sz="3655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 1. Packet Marking:</a:t>
            </a:r>
          </a:p>
          <a:p>
            <a:pPr algn="l">
              <a:lnSpc>
                <a:spcPts val="5702"/>
              </a:lnSpc>
            </a:pPr>
            <a:r>
              <a:rPr lang="en-US" sz="36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Routers embed path information in packets to trace attacks.</a:t>
            </a:r>
          </a:p>
          <a:p>
            <a:pPr algn="l">
              <a:lnSpc>
                <a:spcPts val="5702"/>
              </a:lnSpc>
            </a:pPr>
            <a:r>
              <a:rPr lang="en-US" sz="36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655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2. Packet Logging:</a:t>
            </a:r>
          </a:p>
          <a:p>
            <a:pPr algn="l">
              <a:lnSpc>
                <a:spcPts val="5702"/>
              </a:lnSpc>
            </a:pPr>
            <a:r>
              <a:rPr lang="en-US" sz="36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Routers store packet details for later analysis.</a:t>
            </a:r>
          </a:p>
          <a:p>
            <a:pPr algn="l">
              <a:lnSpc>
                <a:spcPts val="5702"/>
              </a:lnSpc>
            </a:pPr>
            <a:r>
              <a:rPr lang="en-US" sz="36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655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3. Honeypots:</a:t>
            </a:r>
          </a:p>
          <a:p>
            <a:pPr algn="l">
              <a:lnSpc>
                <a:spcPts val="5702"/>
              </a:lnSpc>
            </a:pPr>
            <a:r>
              <a:rPr lang="en-US" sz="36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Fake systems attract attackers, aiding in source identification.</a:t>
            </a:r>
          </a:p>
          <a:p>
            <a:pPr algn="l">
              <a:lnSpc>
                <a:spcPts val="5702"/>
              </a:lnSpc>
            </a:pPr>
            <a:r>
              <a:rPr lang="en-US" sz="36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655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4. Entropy Analysis:</a:t>
            </a:r>
          </a:p>
          <a:p>
            <a:pPr algn="l">
              <a:lnSpc>
                <a:spcPts val="5702"/>
              </a:lnSpc>
            </a:pPr>
            <a:r>
              <a:rPr lang="en-US" sz="36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Monitors randomness in traffic to locate attacks.</a:t>
            </a:r>
          </a:p>
          <a:p>
            <a:pPr algn="l">
              <a:lnSpc>
                <a:spcPts val="5702"/>
              </a:lnSpc>
            </a:pPr>
            <a:endParaRPr lang="en-US" sz="3655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762396" y="3245572"/>
            <a:ext cx="7015547" cy="4744412"/>
          </a:xfrm>
          <a:custGeom>
            <a:avLst/>
            <a:gdLst/>
            <a:ahLst/>
            <a:cxnLst/>
            <a:rect l="l" t="t" r="r" b="b"/>
            <a:pathLst>
              <a:path w="7015547" h="4744412">
                <a:moveTo>
                  <a:pt x="0" y="0"/>
                </a:moveTo>
                <a:lnTo>
                  <a:pt x="7015546" y="0"/>
                </a:lnTo>
                <a:lnTo>
                  <a:pt x="7015546" y="4744413"/>
                </a:lnTo>
                <a:lnTo>
                  <a:pt x="0" y="4744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457446" y="9210675"/>
            <a:ext cx="160096" cy="436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25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824083" y="368066"/>
            <a:ext cx="13476153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Statistics on DoS and DDoS Attacks</a:t>
            </a:r>
          </a:p>
          <a:p>
            <a:pPr algn="ctr">
              <a:lnSpc>
                <a:spcPts val="7279"/>
              </a:lnSpc>
            </a:pPr>
            <a:endParaRPr lang="en-US" sz="5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38909" y="1801877"/>
            <a:ext cx="8838170" cy="7456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52"/>
              </a:lnSpc>
            </a:pPr>
            <a:r>
              <a:rPr lang="en-US" sz="334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1. Increase in Attacks:</a:t>
            </a:r>
          </a:p>
          <a:p>
            <a:pPr algn="l">
              <a:lnSpc>
                <a:spcPts val="5952"/>
              </a:lnSpc>
            </a:pPr>
            <a:r>
              <a:rPr lang="en-US" sz="334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DDoS attacks have become more frequent and complex.</a:t>
            </a:r>
          </a:p>
          <a:p>
            <a:pPr algn="l">
              <a:lnSpc>
                <a:spcPts val="5952"/>
              </a:lnSpc>
            </a:pPr>
            <a:r>
              <a:rPr lang="en-US" sz="334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2. Attack Sizes:</a:t>
            </a:r>
          </a:p>
          <a:p>
            <a:pPr algn="l">
              <a:lnSpc>
                <a:spcPts val="5952"/>
              </a:lnSpc>
            </a:pPr>
            <a:r>
              <a:rPr lang="en-US" sz="334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• Amazon (2020): Eight-hour attack disrupted AWS services.</a:t>
            </a:r>
          </a:p>
          <a:p>
            <a:pPr algn="l">
              <a:lnSpc>
                <a:spcPts val="5952"/>
              </a:lnSpc>
            </a:pPr>
            <a:r>
              <a:rPr lang="en-US" sz="334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• GitHub (2018): Attack peaked at 1.35 terabits per second.</a:t>
            </a:r>
          </a:p>
          <a:p>
            <a:pPr algn="l">
              <a:lnSpc>
                <a:spcPts val="5952"/>
              </a:lnSpc>
            </a:pPr>
            <a:r>
              <a:rPr lang="en-US" sz="334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5952"/>
              </a:lnSpc>
            </a:pPr>
            <a:endParaRPr lang="en-US" sz="3343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503213" y="2433569"/>
            <a:ext cx="6756087" cy="521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1"/>
              </a:lnSpc>
            </a:pPr>
            <a:r>
              <a:rPr lang="en-US" sz="336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3. Impact on Businesses:</a:t>
            </a:r>
          </a:p>
          <a:p>
            <a:pPr algn="l">
              <a:lnSpc>
                <a:spcPts val="5981"/>
              </a:lnSpc>
            </a:pPr>
            <a:r>
              <a:rPr lang="en-US" sz="336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Service outages and financial losses.</a:t>
            </a:r>
          </a:p>
          <a:p>
            <a:pPr algn="l">
              <a:lnSpc>
                <a:spcPts val="5981"/>
              </a:lnSpc>
            </a:pPr>
            <a:r>
              <a:rPr lang="en-US" sz="336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4. Costs:</a:t>
            </a:r>
          </a:p>
          <a:p>
            <a:pPr algn="l">
              <a:lnSpc>
                <a:spcPts val="5981"/>
              </a:lnSpc>
            </a:pPr>
            <a:r>
              <a:rPr lang="en-US" sz="336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Losses can reach millions of dollars per attack.</a:t>
            </a:r>
          </a:p>
          <a:p>
            <a:pPr algn="l">
              <a:lnSpc>
                <a:spcPts val="5981"/>
              </a:lnSpc>
            </a:pPr>
            <a:endParaRPr lang="en-US" sz="336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385460" y="9210675"/>
            <a:ext cx="400643" cy="436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ar-SA" sz="2555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  <a:endParaRPr lang="en-US" sz="2555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017063" y="579117"/>
            <a:ext cx="13476153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Mairi Botnes Attack (2016)</a:t>
            </a:r>
          </a:p>
          <a:p>
            <a:pPr algn="ctr">
              <a:lnSpc>
                <a:spcPts val="7279"/>
              </a:lnSpc>
            </a:pPr>
            <a:endParaRPr lang="en-US" sz="5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23203" y="1841718"/>
            <a:ext cx="9104287" cy="7416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6"/>
              </a:lnSpc>
            </a:pPr>
            <a:r>
              <a:rPr lang="en-US" sz="306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 2016, the Mairi Botnes attack became one of the most impactful cyberattacks,causing significant disruptions across various online services.</a:t>
            </a:r>
          </a:p>
          <a:p>
            <a:pPr algn="l">
              <a:lnSpc>
                <a:spcPts val="4906"/>
              </a:lnSpc>
            </a:pPr>
            <a:endParaRPr lang="en-US" sz="3066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906"/>
              </a:lnSpc>
            </a:pPr>
            <a:r>
              <a:rPr lang="en-US" sz="3066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Target:</a:t>
            </a:r>
            <a:r>
              <a:rPr lang="en-US" sz="306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The attack primarily targeted Dyn DNS servers,by disrupting this critical infrastructure, the attackers affected major platforms such as Twitter, Netflix, and GitHub.</a:t>
            </a:r>
          </a:p>
          <a:p>
            <a:pPr algn="l">
              <a:lnSpc>
                <a:spcPts val="4906"/>
              </a:lnSpc>
            </a:pPr>
            <a:endParaRPr lang="en-US" sz="3066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906"/>
              </a:lnSpc>
            </a:pPr>
            <a:r>
              <a:rPr lang="en-US" sz="3066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Attack Type:</a:t>
            </a:r>
            <a:r>
              <a:rPr lang="en-US" sz="306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 large-scale DDoS attack using a botnet of compromised loT devices (e.g., cameras and routers) to flood the servers with traffic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58965" y="1794093"/>
            <a:ext cx="8115300" cy="613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8"/>
              </a:lnSpc>
            </a:pPr>
            <a:r>
              <a:rPr lang="en-US" sz="3066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Protocols: </a:t>
            </a:r>
            <a:r>
              <a:rPr lang="en-US" sz="306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attack targeted DNS and HTTP/HTTPS protocols, crippling DNS resolution and overloading web servers.</a:t>
            </a:r>
          </a:p>
          <a:p>
            <a:pPr algn="l">
              <a:lnSpc>
                <a:spcPts val="5458"/>
              </a:lnSpc>
            </a:pPr>
            <a:endParaRPr lang="en-US" sz="3066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5458"/>
              </a:lnSpc>
            </a:pPr>
            <a:r>
              <a:rPr lang="en-US" sz="3066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Execution:</a:t>
            </a:r>
            <a:r>
              <a:rPr lang="en-US" sz="306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The attackers used the Mirai botnet to direct thousands of compromised IoT devices to send massive DNS requests to Dyn, causing service failures.</a:t>
            </a:r>
          </a:p>
          <a:p>
            <a:pPr algn="l">
              <a:lnSpc>
                <a:spcPts val="5458"/>
              </a:lnSpc>
            </a:pPr>
            <a:endParaRPr lang="en-US" sz="3066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449800" y="9258300"/>
            <a:ext cx="196080" cy="430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ar-SA" sz="2555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  <a:endParaRPr lang="en-US" sz="2555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346465" y="739900"/>
            <a:ext cx="18288000" cy="1503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57"/>
              </a:lnSpc>
            </a:pPr>
            <a:r>
              <a:rPr lang="en-US" sz="432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Countermeasures After the Mairi Botnes Attack (2016) :</a:t>
            </a:r>
          </a:p>
          <a:p>
            <a:pPr algn="ctr">
              <a:lnSpc>
                <a:spcPts val="6057"/>
              </a:lnSpc>
            </a:pPr>
            <a:endParaRPr lang="en-US" sz="4326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452199" y="2091262"/>
            <a:ext cx="13383602" cy="2156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02"/>
              </a:lnSpc>
            </a:pPr>
            <a:r>
              <a:rPr lang="en-US" sz="36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 response to the Mairi Botnes attack, several measures were implemented to mitigate future DDoS risks:</a:t>
            </a:r>
          </a:p>
          <a:p>
            <a:pPr algn="ctr">
              <a:lnSpc>
                <a:spcPts val="5702"/>
              </a:lnSpc>
            </a:pPr>
            <a:endParaRPr lang="en-US" sz="3655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" name="AutoShape 4"/>
          <p:cNvSpPr/>
          <p:nvPr/>
        </p:nvSpPr>
        <p:spPr>
          <a:xfrm flipH="1">
            <a:off x="3540173" y="3764257"/>
            <a:ext cx="1126459" cy="13671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5" name="AutoShape 5"/>
          <p:cNvSpPr/>
          <p:nvPr/>
        </p:nvSpPr>
        <p:spPr>
          <a:xfrm flipH="1">
            <a:off x="7133935" y="3749473"/>
            <a:ext cx="115923" cy="17676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6" name="AutoShape 6"/>
          <p:cNvSpPr/>
          <p:nvPr/>
        </p:nvSpPr>
        <p:spPr>
          <a:xfrm>
            <a:off x="10983751" y="3768466"/>
            <a:ext cx="275427" cy="17498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7" name="AutoShape 7"/>
          <p:cNvSpPr/>
          <p:nvPr/>
        </p:nvSpPr>
        <p:spPr>
          <a:xfrm>
            <a:off x="13668602" y="3754849"/>
            <a:ext cx="1129778" cy="13643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8" name="TextBox 8"/>
          <p:cNvSpPr txBox="1"/>
          <p:nvPr/>
        </p:nvSpPr>
        <p:spPr>
          <a:xfrm>
            <a:off x="447641" y="4991100"/>
            <a:ext cx="4218991" cy="448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8"/>
              </a:lnSpc>
            </a:pPr>
            <a:r>
              <a:rPr lang="en-US" sz="2527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Enhanced DNS Redundancy: </a:t>
            </a:r>
            <a:r>
              <a:rPr lang="en-US" sz="252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DNS servers were distributed across multiple data centers to reduce single points of failure and improve system reliability.</a:t>
            </a:r>
          </a:p>
          <a:p>
            <a:pPr algn="l">
              <a:lnSpc>
                <a:spcPts val="4498"/>
              </a:lnSpc>
            </a:pPr>
            <a:endParaRPr lang="en-US" sz="2527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498"/>
              </a:lnSpc>
            </a:pPr>
            <a:endParaRPr lang="en-US" sz="2527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949376" y="5543357"/>
            <a:ext cx="4485041" cy="3610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1"/>
              </a:lnSpc>
            </a:pPr>
            <a:r>
              <a:rPr lang="en-US" sz="2338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Rate Limiting and Traffic Filtering: </a:t>
            </a:r>
            <a:r>
              <a:rPr lang="en-US" sz="233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Advanced techniques were adopted to detect and block abnormal traffic patterns, such as excessive DNS or HTTP requests.</a:t>
            </a:r>
          </a:p>
          <a:p>
            <a:pPr algn="l">
              <a:lnSpc>
                <a:spcPts val="4161"/>
              </a:lnSpc>
            </a:pPr>
            <a:endParaRPr lang="en-US" sz="2338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580873" y="5529654"/>
            <a:ext cx="4485041" cy="363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1"/>
              </a:lnSpc>
            </a:pPr>
            <a:r>
              <a:rPr lang="en-US" sz="2338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Regular IoT Device Updates: </a:t>
            </a:r>
            <a:r>
              <a:rPr lang="en-US" sz="233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Ensuring lot devices received regular firmware updates and security patches became a priority to prevent exploitation.</a:t>
            </a:r>
          </a:p>
          <a:p>
            <a:pPr algn="l">
              <a:lnSpc>
                <a:spcPts val="4161"/>
              </a:lnSpc>
            </a:pPr>
            <a:endParaRPr lang="en-US" sz="2338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161"/>
              </a:lnSpc>
            </a:pPr>
            <a:endParaRPr lang="en-US" sz="2338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802959" y="5019482"/>
            <a:ext cx="4485041" cy="4161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1"/>
              </a:lnSpc>
            </a:pPr>
            <a:r>
              <a:rPr lang="en-US" sz="2338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Improved IoT Security Practices: </a:t>
            </a:r>
            <a:r>
              <a:rPr lang="en-US" sz="233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Stronger passwords, better default settings, and enhanced authentication methods were enforced to reduce loT device vulnerabilities and limit their use in botnets.</a:t>
            </a:r>
          </a:p>
          <a:p>
            <a:pPr algn="l">
              <a:lnSpc>
                <a:spcPts val="4161"/>
              </a:lnSpc>
            </a:pPr>
            <a:endParaRPr lang="en-US" sz="2338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7440002" y="9236133"/>
            <a:ext cx="543198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ar-SA" sz="2555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  <a:r>
              <a:rPr lang="ar-SA" sz="255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</a:t>
            </a:r>
            <a:endParaRPr lang="en-US" sz="2555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942975"/>
            <a:ext cx="15237803" cy="2470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77"/>
              </a:lnSpc>
            </a:pPr>
            <a:r>
              <a:rPr lang="en-US" sz="469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Simple Tips to Stay Safe from DoS/DDoS Attacks :</a:t>
            </a:r>
          </a:p>
          <a:p>
            <a:pPr algn="ctr">
              <a:lnSpc>
                <a:spcPts val="6577"/>
              </a:lnSpc>
            </a:pPr>
            <a:endParaRPr lang="en-US" sz="4698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6577"/>
              </a:lnSpc>
            </a:pPr>
            <a:endParaRPr lang="en-US" sz="4698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69235" y="1944387"/>
            <a:ext cx="14936883" cy="834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96"/>
              </a:lnSpc>
            </a:pP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1. </a:t>
            </a:r>
            <a:r>
              <a:rPr lang="en-US" sz="4155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Use strong passwords: </a:t>
            </a:r>
          </a:p>
          <a:p>
            <a:pPr algn="ctr">
              <a:lnSpc>
                <a:spcPts val="7396"/>
              </a:lnSpc>
            </a:pP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Make them unique and complex.</a:t>
            </a:r>
          </a:p>
          <a:p>
            <a:pPr algn="l">
              <a:lnSpc>
                <a:spcPts val="7396"/>
              </a:lnSpc>
            </a:pP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2. </a:t>
            </a:r>
            <a:r>
              <a:rPr lang="en-US" sz="4155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Update your devices regularly: </a:t>
            </a:r>
          </a:p>
          <a:p>
            <a:pPr algn="ctr">
              <a:lnSpc>
                <a:spcPts val="7396"/>
              </a:lnSpc>
            </a:pP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 fix security vulnerabilities.</a:t>
            </a:r>
          </a:p>
          <a:p>
            <a:pPr algn="l">
              <a:lnSpc>
                <a:spcPts val="7396"/>
              </a:lnSpc>
            </a:pP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3. </a:t>
            </a:r>
            <a:r>
              <a:rPr lang="en-US" sz="4155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Disable unnecessary services:</a:t>
            </a: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ctr">
              <a:lnSpc>
                <a:spcPts val="7396"/>
              </a:lnSpc>
            </a:pP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 reduce exposure to attacks.</a:t>
            </a:r>
          </a:p>
          <a:p>
            <a:pPr algn="l">
              <a:lnSpc>
                <a:spcPts val="7396"/>
              </a:lnSpc>
            </a:pP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4. </a:t>
            </a:r>
            <a:r>
              <a:rPr lang="en-US" sz="4155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Install reliable security software: </a:t>
            </a:r>
          </a:p>
          <a:p>
            <a:pPr algn="ctr">
              <a:lnSpc>
                <a:spcPts val="7396"/>
              </a:lnSpc>
            </a:pP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 protect against malware.</a:t>
            </a:r>
          </a:p>
          <a:p>
            <a:pPr algn="l">
              <a:lnSpc>
                <a:spcPts val="7396"/>
              </a:lnSpc>
            </a:pPr>
            <a:endParaRPr lang="en-US" sz="4155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449800" y="9258300"/>
            <a:ext cx="5334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255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5888" y="942975"/>
            <a:ext cx="15237803" cy="2470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77"/>
              </a:lnSpc>
            </a:pPr>
            <a:r>
              <a:rPr lang="en-US" sz="469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Simple Tips to Stay Safe from DoS/DDoS Attacks(2) :</a:t>
            </a:r>
          </a:p>
          <a:p>
            <a:pPr algn="ctr">
              <a:lnSpc>
                <a:spcPts val="6577"/>
              </a:lnSpc>
            </a:pPr>
            <a:endParaRPr lang="en-US" sz="4698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6577"/>
              </a:lnSpc>
            </a:pPr>
            <a:endParaRPr lang="en-US" sz="4698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76348" y="1944387"/>
            <a:ext cx="14936883" cy="834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96"/>
              </a:lnSpc>
            </a:pP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5. </a:t>
            </a:r>
            <a:r>
              <a:rPr lang="en-US" sz="4155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Avoid suspicious links: </a:t>
            </a:r>
          </a:p>
          <a:p>
            <a:pPr algn="ctr">
              <a:lnSpc>
                <a:spcPts val="7396"/>
              </a:lnSpc>
            </a:pP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 prevent unauthorized access.</a:t>
            </a:r>
          </a:p>
          <a:p>
            <a:pPr algn="l">
              <a:lnSpc>
                <a:spcPts val="7396"/>
              </a:lnSpc>
            </a:pP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6. </a:t>
            </a:r>
            <a:r>
              <a:rPr lang="en-US" sz="4155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Secure your router: </a:t>
            </a:r>
          </a:p>
          <a:p>
            <a:pPr algn="ctr">
              <a:lnSpc>
                <a:spcPts val="7396"/>
              </a:lnSpc>
            </a:pP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Change default settings and enable encryption.</a:t>
            </a:r>
          </a:p>
          <a:p>
            <a:pPr algn="l">
              <a:lnSpc>
                <a:spcPts val="7396"/>
              </a:lnSpc>
            </a:pP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7. </a:t>
            </a:r>
            <a:r>
              <a:rPr lang="en-US" sz="4155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Enable two-factor authentication: </a:t>
            </a:r>
          </a:p>
          <a:p>
            <a:pPr algn="ctr">
              <a:lnSpc>
                <a:spcPts val="7396"/>
              </a:lnSpc>
            </a:pP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For added account security.</a:t>
            </a:r>
          </a:p>
          <a:p>
            <a:pPr algn="l">
              <a:lnSpc>
                <a:spcPts val="7396"/>
              </a:lnSpc>
            </a:pP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8. </a:t>
            </a:r>
            <a:r>
              <a:rPr lang="en-US" sz="4155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Monitor network activity: </a:t>
            </a:r>
          </a:p>
          <a:p>
            <a:pPr algn="ctr">
              <a:lnSpc>
                <a:spcPts val="7396"/>
              </a:lnSpc>
            </a:pPr>
            <a:r>
              <a:rPr lang="en-US" sz="41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Check for unusual slowdowns.</a:t>
            </a:r>
          </a:p>
          <a:p>
            <a:pPr algn="l">
              <a:lnSpc>
                <a:spcPts val="7396"/>
              </a:lnSpc>
            </a:pPr>
            <a:endParaRPr lang="en-US" sz="4155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427702" y="9210675"/>
            <a:ext cx="403098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255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461663" y="1495944"/>
            <a:ext cx="6963226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References :</a:t>
            </a:r>
          </a:p>
          <a:p>
            <a:pPr algn="ctr">
              <a:lnSpc>
                <a:spcPts val="7279"/>
              </a:lnSpc>
            </a:pPr>
            <a:endParaRPr lang="en-US" sz="5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184141" y="3769995"/>
            <a:ext cx="14611696" cy="2896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4028">
                <a:solidFill>
                  <a:srgbClr val="000000"/>
                </a:solidFill>
                <a:latin typeface="GE Dinar One Light"/>
                <a:ea typeface="GE Dinar One Light"/>
                <a:cs typeface="GE Dinar One Light"/>
                <a:sym typeface="GE Dinar One Light"/>
              </a:rPr>
              <a:t> Radware Captcha Page</a:t>
            </a:r>
          </a:p>
          <a:p>
            <a:pPr algn="l">
              <a:lnSpc>
                <a:spcPts val="5639"/>
              </a:lnSpc>
            </a:pPr>
            <a:r>
              <a:rPr lang="en-US" sz="4028">
                <a:solidFill>
                  <a:srgbClr val="000000"/>
                </a:solidFill>
                <a:latin typeface="GE Dinar One Light"/>
                <a:ea typeface="GE Dinar One Light"/>
                <a:cs typeface="GE Dinar One Light"/>
                <a:sym typeface="GE Dinar One Light"/>
              </a:rPr>
              <a:t> DoS Attack vs. DDoS Attack: Key Differences (Fortinet)</a:t>
            </a:r>
          </a:p>
          <a:p>
            <a:pPr algn="l">
              <a:lnSpc>
                <a:spcPts val="5639"/>
              </a:lnSpc>
            </a:pPr>
            <a:r>
              <a:rPr lang="en-US" sz="4028">
                <a:solidFill>
                  <a:srgbClr val="000000"/>
                </a:solidFill>
                <a:latin typeface="GE Dinar One Light"/>
                <a:ea typeface="GE Dinar One Light"/>
                <a:cs typeface="GE Dinar One Light"/>
                <a:sym typeface="GE Dinar One Light"/>
              </a:rPr>
              <a:t> Understanding the Difference between DoS and DDoS Attacks</a:t>
            </a:r>
          </a:p>
          <a:p>
            <a:pPr algn="l">
              <a:lnSpc>
                <a:spcPts val="5639"/>
              </a:lnSpc>
            </a:pPr>
            <a:endParaRPr lang="en-US" sz="4028">
              <a:solidFill>
                <a:srgbClr val="000000"/>
              </a:solidFill>
              <a:latin typeface="GE Dinar One Light"/>
              <a:ea typeface="GE Dinar One Light"/>
              <a:cs typeface="GE Dinar One Light"/>
              <a:sym typeface="GE Dinar One Ligh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-278714" y="3731895"/>
            <a:ext cx="2457015" cy="2144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9"/>
              </a:lnSpc>
            </a:pPr>
            <a:r>
              <a:rPr lang="en-US" sz="328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1-</a:t>
            </a:r>
          </a:p>
          <a:p>
            <a:pPr algn="ctr">
              <a:lnSpc>
                <a:spcPts val="5849"/>
              </a:lnSpc>
            </a:pPr>
            <a:r>
              <a:rPr lang="en-US" sz="328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2-</a:t>
            </a:r>
          </a:p>
          <a:p>
            <a:pPr algn="ctr">
              <a:lnSpc>
                <a:spcPts val="5849"/>
              </a:lnSpc>
            </a:pPr>
            <a:r>
              <a:rPr lang="en-US" sz="328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3-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390355" y="9210675"/>
            <a:ext cx="44044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255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894</Words>
  <Application>Microsoft Office PowerPoint</Application>
  <PresentationFormat>مخصص</PresentationFormat>
  <Paragraphs>119</Paragraphs>
  <Slides>13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8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13</vt:i4>
      </vt:variant>
    </vt:vector>
  </HeadingPairs>
  <TitlesOfParts>
    <vt:vector size="22" baseType="lpstr">
      <vt:lpstr>GE Dinar One Medium</vt:lpstr>
      <vt:lpstr>Calibri</vt:lpstr>
      <vt:lpstr>Canva Sans</vt:lpstr>
      <vt:lpstr>Canva Sans Bold</vt:lpstr>
      <vt:lpstr>GE Dinar One Light</vt:lpstr>
      <vt:lpstr>Arimo Bold</vt:lpstr>
      <vt:lpstr>Arial</vt:lpstr>
      <vt:lpstr>Arimo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Fundamentals Project</dc:title>
  <dc:creator>HUAWEI</dc:creator>
  <cp:lastModifiedBy>LINA DAKHILALLAH LOWIFI ALTHUBYANI</cp:lastModifiedBy>
  <cp:revision>6</cp:revision>
  <dcterms:created xsi:type="dcterms:W3CDTF">2006-08-16T00:00:00Z</dcterms:created>
  <dcterms:modified xsi:type="dcterms:W3CDTF">2026-04-21T17:39:57Z</dcterms:modified>
  <dc:identifier>DAGXFMCxgJ8</dc:identifier>
</cp:coreProperties>
</file>